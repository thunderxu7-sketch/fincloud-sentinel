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a6f21b6fc341c0" /><Relationship Type="http://schemas.openxmlformats.org/officeDocument/2006/relationships/extended-properties" Target="/docProps/app.xml" Id="R0bff81cbb56e4260" /><Relationship Type="http://schemas.openxmlformats.org/officeDocument/2006/relationships/officeDocument" Target="/ppt/presentation.xml" Id="Rc1497c39f93947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98b6573c754a1d"/>
  </p:sldMasterIdLst>
  <p:notesMasterIdLst>
    <p:notesMasterId xmlns:r="http://schemas.openxmlformats.org/officeDocument/2006/relationships" r:id="R1c913caa59ff43ed"/>
  </p:notesMasterIdLst>
  <p:sldIdLst>
    <p:sldId xmlns:r="http://schemas.openxmlformats.org/officeDocument/2006/relationships" id="256" r:id="Ra34119613c824573"/>
    <p:sldId xmlns:r="http://schemas.openxmlformats.org/officeDocument/2006/relationships" id="257" r:id="R55de5988af524826"/>
    <p:sldId xmlns:r="http://schemas.openxmlformats.org/officeDocument/2006/relationships" id="258" r:id="Rbdd665e7bf4343ef"/>
    <p:sldId xmlns:r="http://schemas.openxmlformats.org/officeDocument/2006/relationships" id="259" r:id="R6d006997619541b3"/>
    <p:sldId xmlns:r="http://schemas.openxmlformats.org/officeDocument/2006/relationships" id="260" r:id="R4b84eae42fda4b45"/>
    <p:sldId xmlns:r="http://schemas.openxmlformats.org/officeDocument/2006/relationships" id="261" r:id="Rbd2d31f479c34239"/>
    <p:sldId xmlns:r="http://schemas.openxmlformats.org/officeDocument/2006/relationships" id="262" r:id="Rcb5f92ab13ee45fa"/>
    <p:sldId xmlns:r="http://schemas.openxmlformats.org/officeDocument/2006/relationships" id="263" r:id="R831531bdd6354f74"/>
    <p:sldId xmlns:r="http://schemas.openxmlformats.org/officeDocument/2006/relationships" id="264" r:id="R0b2d743ffb64405e"/>
    <p:sldId xmlns:r="http://schemas.openxmlformats.org/officeDocument/2006/relationships" id="265" r:id="R7063ef97034347c3"/>
    <p:sldId xmlns:r="http://schemas.openxmlformats.org/officeDocument/2006/relationships" id="266" r:id="Rbc2cdb8c61004b4d"/>
    <p:sldId xmlns:r="http://schemas.openxmlformats.org/officeDocument/2006/relationships" id="267" r:id="Rc68159812f3d46b9"/>
    <p:sldId xmlns:r="http://schemas.openxmlformats.org/officeDocument/2006/relationships" id="268" r:id="R08fa65234a4349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c248c78d5448d3" /><Relationship Type="http://schemas.openxmlformats.org/officeDocument/2006/relationships/slideMaster" Target="/ppt/slideMasters/slideMaster1.xml" Id="R2d98b6573c754a1d" /><Relationship Type="http://schemas.openxmlformats.org/officeDocument/2006/relationships/notesMaster" Target="/ppt/notesMasters/notesMaster1.xml" Id="R1c913caa59ff43ed" /><Relationship Type="http://schemas.openxmlformats.org/officeDocument/2006/relationships/presProps" Target="/ppt/presProps.xml" Id="Ref9319b66f3b4cc1" /><Relationship Type="http://schemas.openxmlformats.org/officeDocument/2006/relationships/tableStyles" Target="/ppt/tableStyles.xml" Id="R54fad66e8ad94fbd" /><Relationship Type="http://schemas.openxmlformats.org/officeDocument/2006/relationships/slide" Target="/ppt/slides/slide1.xml" Id="Ra34119613c824573" /><Relationship Type="http://schemas.openxmlformats.org/officeDocument/2006/relationships/slide" Target="/ppt/slides/slide2.xml" Id="R55de5988af524826" /><Relationship Type="http://schemas.openxmlformats.org/officeDocument/2006/relationships/slide" Target="/ppt/slides/slide3.xml" Id="Rbdd665e7bf4343ef" /><Relationship Type="http://schemas.openxmlformats.org/officeDocument/2006/relationships/slide" Target="/ppt/slides/slide4.xml" Id="R6d006997619541b3" /><Relationship Type="http://schemas.openxmlformats.org/officeDocument/2006/relationships/slide" Target="/ppt/slides/slide5.xml" Id="R4b84eae42fda4b45" /><Relationship Type="http://schemas.openxmlformats.org/officeDocument/2006/relationships/slide" Target="/ppt/slides/slide6.xml" Id="Rbd2d31f479c34239" /><Relationship Type="http://schemas.openxmlformats.org/officeDocument/2006/relationships/slide" Target="/ppt/slides/slide7.xml" Id="Rcb5f92ab13ee45fa" /><Relationship Type="http://schemas.openxmlformats.org/officeDocument/2006/relationships/slide" Target="/ppt/slides/slide8.xml" Id="R831531bdd6354f74" /><Relationship Type="http://schemas.openxmlformats.org/officeDocument/2006/relationships/slide" Target="/ppt/slides/slide9.xml" Id="R0b2d743ffb64405e" /><Relationship Type="http://schemas.openxmlformats.org/officeDocument/2006/relationships/slide" Target="/ppt/slides/slide10.xml" Id="R7063ef97034347c3" /><Relationship Type="http://schemas.openxmlformats.org/officeDocument/2006/relationships/slide" Target="/ppt/slides/slide11.xml" Id="Rbc2cdb8c61004b4d" /><Relationship Type="http://schemas.openxmlformats.org/officeDocument/2006/relationships/slide" Target="/ppt/slides/slide12.xml" Id="Rc68159812f3d46b9" /><Relationship Type="http://schemas.openxmlformats.org/officeDocument/2006/relationships/slide" Target="/ppt/slides/slide13.xml" Id="R08fa65234a4349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8f6c7355264f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5baa95f1ab24712" /><Relationship Type="http://schemas.openxmlformats.org/officeDocument/2006/relationships/notesMaster" Target="/ppt/notesMasters/notesMaster1.xml" Id="R544606ec577d41b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b7db4b05934a98" /><Relationship Type="http://schemas.openxmlformats.org/officeDocument/2006/relationships/notesMaster" Target="/ppt/notesMasters/notesMaster1.xml" Id="R07c67e42a02b49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c135398440f4087" /><Relationship Type="http://schemas.openxmlformats.org/officeDocument/2006/relationships/notesMaster" Target="/ppt/notesMasters/notesMaster1.xml" Id="Re67e15bc1bb54d5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64f35171284b18" /><Relationship Type="http://schemas.openxmlformats.org/officeDocument/2006/relationships/notesMaster" Target="/ppt/notesMasters/notesMaster1.xml" Id="R39f8214bc61b4e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707da8552c4590" /><Relationship Type="http://schemas.openxmlformats.org/officeDocument/2006/relationships/notesMaster" Target="/ppt/notesMasters/notesMaster1.xml" Id="R891ab94f3541411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1af119b9e1f4d2c" /><Relationship Type="http://schemas.openxmlformats.org/officeDocument/2006/relationships/notesMaster" Target="/ppt/notesMasters/notesMaster1.xml" Id="R5014f3ea3da7410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44711ee2d7f4fac" /><Relationship Type="http://schemas.openxmlformats.org/officeDocument/2006/relationships/notesMaster" Target="/ppt/notesMasters/notesMaster1.xml" Id="R9402b18f40a544c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6ca24c8c4ab496d" /><Relationship Type="http://schemas.openxmlformats.org/officeDocument/2006/relationships/notesMaster" Target="/ppt/notesMasters/notesMaster1.xml" Id="R51f5b53c7c3545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31b6aa75a644c8" /><Relationship Type="http://schemas.openxmlformats.org/officeDocument/2006/relationships/notesMaster" Target="/ppt/notesMasters/notesMaster1.xml" Id="Rf6e4c97dbc2e4d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da94d0fda3141be" /><Relationship Type="http://schemas.openxmlformats.org/officeDocument/2006/relationships/notesMaster" Target="/ppt/notesMasters/notesMaster1.xml" Id="R11f8015612fc492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e4e1103ce1e4a1b" /><Relationship Type="http://schemas.openxmlformats.org/officeDocument/2006/relationships/notesMaster" Target="/ppt/notesMasters/notesMaster1.xml" Id="R60f324fbad684c0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542fc8bb8c4497c" /><Relationship Type="http://schemas.openxmlformats.org/officeDocument/2006/relationships/notesMaster" Target="/ppt/notesMasters/notesMaster1.xml" Id="Re05a32315f1949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60726efd8ec4ef5" /><Relationship Type="http://schemas.openxmlformats.org/officeDocument/2006/relationships/notesMaster" Target="/ppt/notesMasters/notesMaster1.xml" Id="Rc1bc6bcb545c443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开场只讲一件事：这不是一张云产品清单，而是一个可验证的资金安全与 AI 治理方案。建议先批准四周合成数据 POC，再决定是否进入云上试点。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.artifact-build/deck/demo-hero.png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把讨论从‘系统有没有宕机’转向‘我们能否证明每一笔资金效果’。四类问题会交叉发生，因此需要统一控制面。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docs/architecture/high-level-design.md</a:t>
            </a:r>
          </a:p>
          <a:p xmlns:a="http://schemas.openxmlformats.org/drawingml/2006/main">
            <a:r>
              <a:t>- docs/presales/02-requirements-and-nfr.md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这是整个方案的口诀：一个业务身份、合法状态、借贷平衡、独立对账。任何一项无法证明时，系统不应扩大自动化权限。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packages/domain/src</a:t>
            </a:r>
          </a:p>
          <a:p xmlns:a="http://schemas.openxmlformats.org/drawingml/2006/main">
            <a:r>
              <a:t>- docs/architecture/decisions.md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架构的关键不是产品数量，而是责任边界。交易核心保持决定性；风控和 AI 可替换；可观测平面对所有层生效。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docs/architecture/high-level-design.md</a:t>
            </a:r>
          </a:p>
          <a:p xmlns:a="http://schemas.openxmlformats.org/drawingml/2006/main">
            <a:r>
              <a:t>- https://www.alibabacloud.com/help/en/ack/ack-managed-and-ack-dedicated/user-guide/observability-best-practices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这页用于回答‘如何保证不重复扣款’。不需要网络完美，只需要让重试可以安全回放，并在外部事实不一致时自动收敛。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packages/domain/src/service.ts</a:t>
            </a:r>
          </a:p>
          <a:p xmlns:a="http://schemas.openxmlformats.org/drawingml/2006/main">
            <a:r>
              <a:t>- infra/sql/schema.sql</a:t>
            </a:r>
          </a:p>
          <a:p xmlns:a="http://schemas.openxmlformats.org/drawingml/2006/main">
            <a:r>
              <a:t>- https://www.alibabacloud.com/help/en/apsaramq-for-rocketmq/cloud-message-queue-rocketmq-4-x-series/developer-reference/ordered-messages</a:t>
            </a:r>
          </a:p>
          <a:p xmlns:a="http://schemas.openxmlformats.org/drawingml/2006/main">
            <a:r>
              <a:t>- https://www.alibabacloud.com/help/en/apsaramq-for-rocketmq/cloud-message-queue-rocketmq-5-x-series/developer-reference/transactional-messages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演示时先触发一个风控超时，说明系统如何 fail closed；再显示只读 AI 摘要与对账结果。不演示 AI 自动放款或转账。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apps/web</a:t>
            </a:r>
          </a:p>
          <a:p xmlns:a="http://schemas.openxmlformats.org/drawingml/2006/main">
            <a:r>
              <a:t>- docs/runbooks/incident-response.md</a:t>
            </a:r>
          </a:p>
          <a:p xmlns:a="http://schemas.openxmlformats.org/drawingml/2006/main">
            <a:r>
              <a:t>- .artifact-build/deck/demo-command-center.png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明确 AI 的三条红线：不直接写资金系统、不绕过风控、不隐藏证据来源。即使更换模型，这些权限与审计边界也不变。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services/ai-copilot/app</a:t>
            </a:r>
          </a:p>
          <a:p xmlns:a="http://schemas.openxmlformats.org/drawingml/2006/main">
            <a:r>
              <a:t>- evals</a:t>
            </a:r>
          </a:p>
          <a:p xmlns:a="http://schemas.openxmlformats.org/drawingml/2006/main">
            <a:r>
              <a:t>- docs/presales/06-security-threat-model.md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向客户解释时，每提到一个云产品，都立即说明它负责的不变式和 POC 验收方法。如果产品不能帮助实证，就不应出现在方案中。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docs/presales/03-product-selection.md</a:t>
            </a:r>
          </a:p>
          <a:p xmlns:a="http://schemas.openxmlformats.org/drawingml/2006/main">
            <a:r>
              <a:t>- https://www.alibabacloud.com/help/en/hologres/product-overview/what-is-hologres</a:t>
            </a:r>
          </a:p>
          <a:p xmlns:a="http://schemas.openxmlformats.org/drawingml/2006/main">
            <a:r>
              <a:t>- https://www.alibabacloud.com/help/en/pai/overview-2</a:t>
            </a:r>
          </a:p>
          <a:p xmlns:a="http://schemas.openxmlformats.org/drawingml/2006/main">
            <a:r>
              <a:t>- https://www.alibabacloud.com/help/en/ack/ack-managed-and-ack-dedicated/user-guide/observability-best-practices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门禁必须在 POC 启动前共同签字。业务方、风控方和技术方各指定一位验收人，验收证据保留到打分表。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docs/presales/05-poc-plan-and-scorecard.md</a:t>
            </a:r>
          </a:p>
          <a:p xmlns:a="http://schemas.openxmlformats.org/drawingml/2006/main">
            <a:r>
              <a:t>- docs/presales/poc-scorecard.csv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四周计划使用合成数据，因此暂时不需要购买阿里云服务器。到第四周已经通过本地/Docker 验证后，再决定是否用按量资源做短期云上基准测试。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docs/presales/04-implementation-roadmap.md</a:t>
            </a:r>
          </a:p>
          <a:p xmlns:a="http://schemas.openxmlformats.org/drawingml/2006/main">
            <a:r>
              <a:t>- docs/presales/11-deployment-handover.md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这不是价格承诺。现场只说明模型结构：计算、消息、存储、模型推理、观测与人员成本，对照事故损失与人工效率效益。真实费用必须在发现会议后更换蓝色输入格。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docs/presales/FinCloud-Sentinel-TCO-Model.xlsx</a:t>
            </a:r>
          </a:p>
          <a:p xmlns:a="http://schemas.openxmlformats.org/drawingml/2006/main">
            <a:r>
              <a:t>- docs/presales/08-tco-roi-model.md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方案应主动说清客户仍需承担的责任，避免把云安全误解为业务安全。建议用 RACI 把每个上线门禁的执行人和签字人固定。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docs/presales/14-compliance-responsibility.md</a:t>
            </a:r>
          </a:p>
          <a:p xmlns:a="http://schemas.openxmlformats.org/drawingml/2006/main">
            <a:r>
              <a:t>- docs/presales/06-security-threat-model.md</a:t>
            </a:r>
          </a:p>
          <a:p xmlns:a="http://schemas.openxmlformats.org/drawingml/2006/main">
            <a:r>
              <a:t>- docs/presales/07-dr-bcp-plan.md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结束时明确索取决策：批准四周 POC，指定三方责任人，两个工作日内锁定数据分类与验收门禁。如果门禁未达到，就停止或限期补救，不进入生产。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docs/presales/00-executive-proposal.md</a:t>
            </a:r>
          </a:p>
          <a:p xmlns:a="http://schemas.openxmlformats.org/drawingml/2006/main">
            <a:r>
              <a:t>- docs/presales/05-poc-plan-and-scorecard.md</a:t>
            </a:r>
          </a:p>
          <a:p xmlns:a="http://schemas.openxmlformats.org/drawingml/2006/main">
            <a:r>
              <a:t>- docs/presales/15-workshop-agenda.md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f2ab8c5d841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3176a6e2c140ef" /><Relationship Type="http://schemas.openxmlformats.org/officeDocument/2006/relationships/slideLayout" Target="/ppt/slideLayouts/slideLayout1.xml" Id="R8a95be58fe65424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a95be58fe65424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2dc57adb0437d" /><Relationship Type="http://schemas.openxmlformats.org/officeDocument/2006/relationships/image" Target="/ppt/media/image.png" Id="R86c540810d8d494f" /><Relationship Type="http://schemas.openxmlformats.org/officeDocument/2006/relationships/notesSlide" Target="/ppt/notesSlides/notesSlide1.xml" Id="R0af388c46d6841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ca364663af48d7" /><Relationship Type="http://schemas.openxmlformats.org/officeDocument/2006/relationships/notesSlide" Target="/ppt/notesSlides/notesSlide2.xml" Id="R5e94feb05e6c48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ec37a0f4b34470" /><Relationship Type="http://schemas.openxmlformats.org/officeDocument/2006/relationships/notesSlide" Target="/ppt/notesSlides/notesSlide3.xml" Id="Rac6fbdb26f7447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375030517f41f7" /><Relationship Type="http://schemas.openxmlformats.org/officeDocument/2006/relationships/notesSlide" Target="/ppt/notesSlides/notesSlide4.xml" Id="Ree32440c8abd4e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ecf7e18d514754" /><Relationship Type="http://schemas.openxmlformats.org/officeDocument/2006/relationships/notesSlide" Target="/ppt/notesSlides/notesSlide5.xml" Id="R94af3b2c9b864bd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01fdd230354bf9" /><Relationship Type="http://schemas.openxmlformats.org/officeDocument/2006/relationships/image" Target="/ppt/media/image2.png" Id="Rdf55824a893c436e" /><Relationship Type="http://schemas.openxmlformats.org/officeDocument/2006/relationships/notesSlide" Target="/ppt/notesSlides/notesSlide6.xml" Id="R1ca9bf14fd864c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8a3b6ad64a4f13" /><Relationship Type="http://schemas.openxmlformats.org/officeDocument/2006/relationships/notesSlide" Target="/ppt/notesSlides/notesSlide7.xml" Id="R11b2e42c0f5742e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b479b181e644af" /><Relationship Type="http://schemas.openxmlformats.org/officeDocument/2006/relationships/notesSlide" Target="/ppt/notesSlides/notesSlide8.xml" Id="R23120bc2fec94f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7bf32fc20d434e" /><Relationship Type="http://schemas.openxmlformats.org/officeDocument/2006/relationships/notesSlide" Target="/ppt/notesSlides/notesSlide9.xml" Id="Re63cf072e8824d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5631220bb4895" /><Relationship Type="http://schemas.openxmlformats.org/officeDocument/2006/relationships/notesSlide" Target="/ppt/notesSlides/notesSlide10.xml" Id="R65fd4e841d334aa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8fe403091473d" /><Relationship Type="http://schemas.openxmlformats.org/officeDocument/2006/relationships/chart" Target="/ppt/slides/charts/chart1.xml" Id="R09b931884cb347e9" /><Relationship Type="http://schemas.openxmlformats.org/officeDocument/2006/relationships/notesSlide" Target="/ppt/notesSlides/notesSlide11.xml" Id="R18f5a842c513463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a5cad53884117" /><Relationship Type="http://schemas.openxmlformats.org/officeDocument/2006/relationships/notesSlide" Target="/ppt/notesSlides/notesSlide12.xml" Id="Ra63fd4d45bf94e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e524ba5534905" /><Relationship Type="http://schemas.openxmlformats.org/officeDocument/2006/relationships/notesSlide" Target="/ppt/notesSlides/notesSlide13.xml" Id="R20879c3b81654e2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Cost / 成本</c:v>
          </c:tx>
          <c:spPr>
            <a:solidFill xmlns:a="http://schemas.openxmlformats.org/drawingml/2006/main">
              <a:srgbClr val="0B0D0C"/>
            </a:solidFill>
          </c:spPr>
          <c:cat>
            <c:strLit>
              <c:ptCount val="4"/>
              <c:pt idx="0">
                <c:v>Year 0</c:v>
              </c:pt>
              <c:pt idx="1">
                <c:v>Year 1</c:v>
              </c:pt>
              <c:pt idx="2">
                <c:v>Year 2</c:v>
              </c:pt>
              <c:pt idx="3">
                <c:v>Year 3</c:v>
              </c:pt>
            </c:strLit>
          </c:cat>
          <c:val>
            <c:numLit>
              <c:formatCode>0</c:formatCode>
              <c:ptCount val="4"/>
              <c:pt idx="0">
                <c:v>704</c:v>
              </c:pt>
              <c:pt idx="1">
                <c:v>2124</c:v>
              </c:pt>
              <c:pt idx="2">
                <c:v>2574</c:v>
              </c:pt>
              <c:pt idx="3">
                <c:v>3398</c:v>
              </c:pt>
            </c:numLit>
          </c:val>
        </c:ser>
        <c:ser>
          <c:idx val="1"/>
          <c:order val="1"/>
          <c:tx>
            <c:v>Benefit / 效益</c:v>
          </c:tx>
          <c:spPr>
            <a:solidFill xmlns:a="http://schemas.openxmlformats.org/drawingml/2006/main">
              <a:srgbClr val="16C875"/>
            </a:solidFill>
          </c:spPr>
          <c:cat>
            <c:strLit>
              <c:ptCount val="4"/>
              <c:pt idx="0">
                <c:v>Year 0</c:v>
              </c:pt>
              <c:pt idx="1">
                <c:v>Year 1</c:v>
              </c:pt>
              <c:pt idx="2">
                <c:v>Year 2</c:v>
              </c:pt>
              <c:pt idx="3">
                <c:v>Year 3</c:v>
              </c:pt>
            </c:strLit>
          </c:cat>
          <c:val>
            <c:numLit>
              <c:formatCode>0</c:formatCode>
              <c:ptCount val="4"/>
              <c:pt idx="0">
                <c:v>0</c:v>
              </c:pt>
              <c:pt idx="1">
                <c:v>2632</c:v>
              </c:pt>
              <c:pt idx="2">
                <c:v>3290</c:v>
              </c:pt>
              <c:pt idx="3">
                <c:v>4113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B0D0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DFDB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</c:plotArea>
    <c:legend>
      <c:legendPos val="b"/>
      <c:overlay val="0"/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54B08-6C59-4C1B-B7A9-2FF8A0B3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6C87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8D787-FED8-4FE4-B59D-E244F4398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FINCLOUD SENTINEL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0CC86AA-A5FC-42E2-9A0C-058554FA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33500"/>
            <a:ext cx="4953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0D0C"/>
                </a:solidFill>
              </a:defRPr>
            </a:pPr>
            <a:r>
              <a:rPr sz="4050" b="1">
                <a:solidFill>
                  <a:srgbClr val="0B0D0C"/>
                </a:solidFill>
              </a:rPr>
              <a:t>让金融交易在失败中</a:t>
            </a:r>
          </a:p>
          <a:p xmlns:a="http://schemas.openxmlformats.org/drawingml/2006/main">
            <a:pPr>
              <a:defRPr sz="4050" b="1">
                <a:solidFill>
                  <a:srgbClr val="0B0D0C"/>
                </a:solidFill>
              </a:defRPr>
            </a:pPr>
            <a:r>
              <a:rPr sz="4050" b="1">
                <a:solidFill>
                  <a:srgbClr val="0B0D0C"/>
                </a:solidFill>
              </a:rPr>
              <a:t>仍然可解释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D6994-8057-420B-8961-0D9874E20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4762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5706A"/>
                </a:solidFill>
              </a:defRPr>
            </a:pPr>
            <a:r>
              <a:rPr sz="1575" b="0">
                <a:solidFill>
                  <a:srgbClr val="65706A"/>
                </a:solidFill>
              </a:rPr>
              <a:t>Financial transaction assurance + governed AI operations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108944-2CC6-4CDF-855A-0D1E408FD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87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C60C4E-FB29-4A35-B90B-CC2B227C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514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0D0C"/>
                </a:solidFill>
              </a:defRPr>
            </a:pPr>
            <a:r>
              <a:rPr sz="1350" b="1">
                <a:solidFill>
                  <a:srgbClr val="0B0D0C"/>
                </a:solidFill>
              </a:rPr>
              <a:t>4 周合成数据 POC · 阿里云参考架构 · 可执行交付证据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365E8F-187F-4DFE-BE62-9264F7A2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5787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Executive solution proposal / 2026.08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F10D3-3F1E-42DD-A202-E03514A3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628650"/>
            <a:ext cx="5391150" cy="533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540810d8d494f"/>
          <a:stretch xmlns:a="http://schemas.openxmlformats.org/drawingml/2006/main"/>
        </p:blipFill>
        <p:spPr>
          <a:xfrm xmlns:a="http://schemas.openxmlformats.org/drawingml/2006/main">
            <a:off x="6381750" y="1753791"/>
            <a:ext cx="4933950" cy="3083719"/>
          </a:xfrm>
          <a:prstGeom xmlns:a="http://schemas.openxmlformats.org/drawingml/2006/main" prst="roundRect">
            <a:avLst>
              <a:gd name="adj" fmla="val 4297"/>
            </a:avLst>
          </a:prstGeom>
        </p:spPr>
      </p:pic>
    </p:spTree>
    <p:extLst>
      <p:ext uri="{BB962C8B-B14F-4D97-AF65-F5344CB8AC3E}">
        <p14:creationId xmlns:p14="http://schemas.microsoft.com/office/powerpoint/2010/main" val="1163175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">
            <a:extLst xmlns:a="http://schemas.openxmlformats.org/drawingml/2006/main">
              <a:ext uri="{FF2B5EF4-FFF2-40B4-BE49-F238E27FC236}">
                <a16:creationId xmlns:a16="http://schemas.microsoft.com/office/drawing/2014/main" id="{133EB59C-AEEE-4BA9-AE57-2C4E1B95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01 / THE PROBLEM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382F96-8820-4D4D-BB3E-C0DC3C36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事故不是单点故障，而是证据断裂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45D55C7-93A5-4277-8C16-5BE1157D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资金效果、内外账、风控结果和调查证据一旦分裂，恢复速度就会快于事实恢复。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8FB38F-E47D-42DC-9351-577048CC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0E8275-F44B-4F7E-84B0-6571F89C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D17F9-0A1B-4799-9AE9-40886DED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A4670-7428-4EBA-9D01-7E2F836E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479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A49"/>
                </a:solidFill>
              </a:defRPr>
            </a:pPr>
            <a:r>
              <a:rPr sz="1350" b="1">
                <a:solidFill>
                  <a:srgbClr val="0B7A49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C5C0A5-833F-4B74-85DB-F4FD39D57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288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重试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EA7E14-761F-4BF3-84AD-0C4CD7194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479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网络超时后重复提交，请求只发一次，资金效果却可能两次。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64EF03-C353-4946-A28C-1EFEDCE0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860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D0C"/>
                </a:solidFill>
              </a:defRPr>
            </a:pPr>
            <a:r>
              <a:rPr sz="1050" b="1">
                <a:solidFill>
                  <a:srgbClr val="0B0D0C"/>
                </a:solidFill>
              </a:rPr>
              <a:t>RETRY ≠ ONE EFFECT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7160C9-8EED-4B47-B583-401FABA3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924175"/>
            <a:ext cx="1034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BB21E-CB35-4863-B0AE-ABD681CBA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A49"/>
                </a:solidFill>
              </a:defRPr>
            </a:pPr>
            <a:r>
              <a:rPr sz="1350" b="1">
                <a:solidFill>
                  <a:srgbClr val="0B7A4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1D148D-BCF7-4EB7-BD1E-35475B97F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623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偏移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0B2E8D-318F-4CBD-A2A2-7A4236164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1813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内部账本已完成，外部通道未确认，运营团队缺少可复算差异。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B7FC6E-1287-406E-B517-7B26581C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2194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D0C"/>
                </a:solidFill>
              </a:defRPr>
            </a:pPr>
            <a:r>
              <a:rPr sz="1050" b="1">
                <a:solidFill>
                  <a:srgbClr val="0B0D0C"/>
                </a:solidFill>
              </a:rPr>
              <a:t>LEDGER ≠ PROVIDER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1E2CE05-6686-4AA0-BEDD-5C38272D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57625"/>
            <a:ext cx="1034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FB9274-D6E4-44F3-838D-BCD47DD8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1480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A49"/>
                </a:solidFill>
              </a:defRPr>
            </a:pPr>
            <a:r>
              <a:rPr sz="1350" b="1">
                <a:solidFill>
                  <a:srgbClr val="0B7A49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0A8F6E-557D-49DF-836A-2D1D3B41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9575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失控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B9FD43-6EDC-4181-8C3D-FB09CEBF3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11480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风控或模型依赖不可用时若继续放行，故障会直接变成资金风险。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5DFCCF-3820-445C-AD24-93128C50E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15290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D0C"/>
                </a:solidFill>
              </a:defRPr>
            </a:pPr>
            <a:r>
              <a:rPr sz="1050" b="1">
                <a:solidFill>
                  <a:srgbClr val="0B0D0C"/>
                </a:solidFill>
              </a:rPr>
              <a:t>TIMEOUT MUST FAIL CLOSED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29F580-27B3-44C3-9D55-8519BD75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791075"/>
            <a:ext cx="1034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89B2BF-B961-490C-B2E1-E9428B53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48250"/>
            <a:ext cx="41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7A49"/>
                </a:solidFill>
              </a:defRPr>
            </a:pPr>
            <a:r>
              <a:rPr sz="1350" b="1">
                <a:solidFill>
                  <a:srgbClr val="0B7A49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B2415F-3BA0-4E96-87AB-93FCD016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0292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碎片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13A9F7-C407-4D45-8E17-05F28E9C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048250"/>
            <a:ext cx="5905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5706A"/>
                </a:solidFill>
              </a:defRPr>
            </a:pPr>
            <a:r>
              <a:rPr sz="1275" b="0">
                <a:solidFill>
                  <a:srgbClr val="65706A"/>
                </a:solidFill>
              </a:rPr>
              <a:t>日志、告警、订单和模型输出缺少统一关联键，难以形成审计链。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146759-BE02-4FA2-AEB5-E9D4EDF2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086350"/>
            <a:ext cx="2628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D0C"/>
                </a:solidFill>
              </a:defRPr>
            </a:pPr>
            <a:r>
              <a:rPr sz="1050" b="1">
                <a:solidFill>
                  <a:srgbClr val="0B0D0C"/>
                </a:solidFill>
              </a:rPr>
              <a:t>NO TRACE, NO PROOF</a:t>
            </a:r>
          </a:p>
        </p:txBody>
      </p:sp>
    </p:spTree>
    <p:extLst>
      <p:ext uri="{BB962C8B-B14F-4D97-AF65-F5344CB8AC3E}">
        <p14:creationId xmlns:p14="http://schemas.microsoft.com/office/powerpoint/2010/main" val="8765135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1307B25A-538A-4614-8710-3B474B04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02 / DESIGN PRINCIPLE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ED54B97-0BEC-4DEE-99D0-DDE9060DD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资金安全先于吞吐和自动化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9ED870D-376B-46BC-A4FA-5A339CF5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我们不承诺抽象的 exactly-once，而是用可复算不变式证明一次业务效果。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36BF72-0E9C-4101-8676-177E56BE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76F1D0-A7F2-4A43-96C4-51450F79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EA8B94-17AC-4171-887D-1FADCED0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D228C-324F-487B-9AA6-884B26DE0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52650"/>
            <a:ext cx="1089660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0B0D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497BB-C519-4009-A80D-3C90AC2B7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28875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ONE 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D75CB-E9D1-4E18-B1E3-139EF48C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288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F66B"/>
                </a:solidFill>
              </a:defRPr>
            </a:pPr>
            <a:r>
              <a:rPr sz="1875" b="1">
                <a:solidFill>
                  <a:srgbClr val="C7F66B"/>
                </a:solidFill>
              </a:rPr>
              <a:t>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F307EF-0794-4A44-A545-D6023D157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428875"/>
            <a:ext cx="200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LEGAL STATE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2E61E3-A0D3-4C6E-B734-89793583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288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F66B"/>
                </a:solidFill>
              </a:defRPr>
            </a:pPr>
            <a:r>
              <a:rPr sz="1875" b="1">
                <a:solidFill>
                  <a:srgbClr val="C7F66B"/>
                </a:solidFill>
              </a:rPr>
              <a:t>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116881-06E3-4F65-B494-F2327B85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428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DEBIT = CREDIT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010B4A-AC89-4269-82D5-F9D0B0B8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7F66B"/>
                </a:solidFill>
              </a:defRPr>
            </a:pPr>
            <a:r>
              <a:rPr sz="1875" b="1">
                <a:solidFill>
                  <a:srgbClr val="C7F66B"/>
                </a:solidFill>
              </a:rPr>
              <a:t>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C9AFD8-571D-4CD4-9AFA-D38A217E2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28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INDEPENDENT RECON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C733D4-DE1A-4D5C-AEAF-2472D5F8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C8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456CE8-9232-4BA0-89CB-5AAF327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幂等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7C77C-AA9D-4FB9-B246-8985EE9C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同一 idempotency key 回放，只产生一次业务效果。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6DF31-33A5-432B-8DCB-26568A980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623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F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EA2B6E-40F0-40E4-AB3F-7ACE3A31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状态机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806FC-6471-45F4-B916-26E325A3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47675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非法跳转在入账前拒绝，所有变化可追溯。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9E884C-BF78-4D09-A8C0-C1077730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623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F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BBAC25-76DD-43D0-8C9E-7AC70EE6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双式记账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D533F3-C66F-4C90-A4AE-9B42A165B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每一笔分录原子平衡，金额采用最小单位整数。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DEB421-FA91-4BB0-B5CB-69CA59A1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7623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F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F5DD3C-46B2-4B26-977D-59C9A68D1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9814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独立对账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368972-4FAF-4230-B5B9-0A37D3FD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476750"/>
            <a:ext cx="2305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以外部事实重算差异，而不是相信业务流程自报。</a:t>
            </a:r>
          </a:p>
        </p:txBody>
      </p:sp>
    </p:spTree>
    <p:extLst>
      <p:ext uri="{BB962C8B-B14F-4D97-AF65-F5344CB8AC3E}">
        <p14:creationId xmlns:p14="http://schemas.microsoft.com/office/powerpoint/2010/main" val="18481417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030CD096-16AA-4CC4-9E61-08EB964F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03 / REFERENCE ARCHITECTURE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398D2D-1551-4130-A038-0C18D5FB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一条可演示、可审计、可替换的交付路径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0E775C-DE01-4FA5-8700-EE1AE8FB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参考架构将资金权威、实时速度、AI 辅助和运维证据解耦。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B3FFE3-1F87-4D8A-8FB0-0D57B002F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5B5C0F-B504-49EE-B610-9130255D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B54BD8-2CEB-4C96-86FD-9970FE064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69B1F2-FCD3-4755-91E2-EE24B82D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5750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89439F-A3D3-43E2-8C1A-1CC3929B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41491-5FB8-4E24-A6A4-B74255B2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857500"/>
            <a:ext cx="4000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71D4FA-7BDF-429E-A8CC-D16B896A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52700"/>
            <a:ext cx="180975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E13C43-48EF-4D0A-926D-1B04EEC5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4320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EDGE / 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039952-B9A0-4861-BC56-D962D429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1466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WAF · API · Web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D40530-DE6F-4948-8011-8C9500B9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52700"/>
            <a:ext cx="1952625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B0D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F3A485-D4EE-498C-8F2C-DF79A41D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432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TRANSACTION CORE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4E4954-C7FC-485D-8F7E-39D57F26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05150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F66B"/>
                </a:solidFill>
              </a:defRPr>
            </a:pPr>
            <a:r>
              <a:rPr sz="1050" b="0">
                <a:solidFill>
                  <a:srgbClr val="C7F66B"/>
                </a:solidFill>
              </a:rPr>
              <a:t>State · Idempotency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1293A-593D-4D3D-A951-DC05B4C5F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552700"/>
            <a:ext cx="1952625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BB29DB-6B20-4014-8330-58226FCFB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43200"/>
            <a:ext cx="16097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DATA + EVENTS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C28A0E-DFFE-4BE7-8280-94E71CA8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05150"/>
            <a:ext cx="16097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Ledger · Outbox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64AB5E-A0B3-4634-9491-68AEE91B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552700"/>
            <a:ext cx="20955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5B1461-CE1D-4DE4-8A6D-0FDB3EAC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4320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RISK + 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E1E27-3F7E-4788-8D72-123E4B0E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10515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Fail-closed · RAG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6EC5B8-94A3-4C18-9ACB-A690A88A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957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D6FAB3-476B-4FD5-A46B-7225CDCA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29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D0C"/>
                </a:solidFill>
              </a:defRPr>
            </a:pPr>
            <a:r>
              <a:rPr sz="1500" b="1">
                <a:solidFill>
                  <a:srgbClr val="0B0D0C"/>
                </a:solidFill>
              </a:rPr>
              <a:t>权威层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1670F-B5BE-4373-B90B-079AACE9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OceanBase / PostgreSQL</a:t>
            </a:r>
          </a:p>
          <a:p xmlns:a="http://schemas.openxmlformats.org/drawingml/2006/main">
            <a:pPr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Tair · RocketMQ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C7C9D-05C3-47C6-B5A5-FEE5CBE15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29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D0C"/>
                </a:solidFill>
              </a:defRPr>
            </a:pPr>
            <a:r>
              <a:rPr sz="1500" b="1">
                <a:solidFill>
                  <a:srgbClr val="0B0D0C"/>
                </a:solidFill>
              </a:rPr>
              <a:t>实时分析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EABF73B-075D-4390-9453-D2A5E70D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387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Flink · Hologres</a:t>
            </a:r>
          </a:p>
          <a:p xmlns:a="http://schemas.openxmlformats.org/drawingml/2006/main">
            <a:pPr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Reconciliation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18C7D9-94B5-446B-B5C4-4D8DA123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429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D0C"/>
                </a:solidFill>
              </a:defRPr>
            </a:pPr>
            <a:r>
              <a:rPr sz="1500" b="1">
                <a:solidFill>
                  <a:srgbClr val="0B0D0C"/>
                </a:solidFill>
              </a:rPr>
              <a:t>模型服务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E976BD-72E3-46D9-B10E-59049E74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387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PAI-EAS · Vector search</a:t>
            </a:r>
          </a:p>
          <a:p xmlns:a="http://schemas.openxmlformats.org/drawingml/2006/main">
            <a:pPr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Read-only tools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E9E2A1-603C-42D3-98DA-AF8E6C14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429125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D0C"/>
                </a:solidFill>
              </a:defRPr>
            </a:pPr>
            <a:r>
              <a:rPr sz="1500" b="1">
                <a:solidFill>
                  <a:srgbClr val="0B0D0C"/>
                </a:solidFill>
              </a:rPr>
              <a:t>证据平面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197D418-9B48-48B6-8B1A-5915E47A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8387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OpenTelemetry · ARMS</a:t>
            </a:r>
          </a:p>
          <a:p xmlns:a="http://schemas.openxmlformats.org/drawingml/2006/main">
            <a:pPr>
              <a:defRPr sz="1125" b="0">
                <a:solidFill>
                  <a:srgbClr val="65706A"/>
                </a:solidFill>
              </a:defRPr>
            </a:pPr>
            <a:r>
              <a:rPr sz="1125" b="0">
                <a:solidFill>
                  <a:srgbClr val="65706A"/>
                </a:solidFill>
              </a:rPr>
              <a:t>SLS · Prometheus</a:t>
            </a:r>
          </a:p>
        </p:txBody>
      </p:sp>
    </p:spTree>
    <p:extLst>
      <p:ext uri="{BB962C8B-B14F-4D97-AF65-F5344CB8AC3E}">
        <p14:creationId xmlns:p14="http://schemas.microsoft.com/office/powerpoint/2010/main" val="10306162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eyebrow">
            <a:extLst xmlns:a="http://schemas.openxmlformats.org/drawingml/2006/main">
              <a:ext uri="{FF2B5EF4-FFF2-40B4-BE49-F238E27FC236}">
                <a16:creationId xmlns:a16="http://schemas.microsoft.com/office/drawing/2014/main" id="{791D4547-7DFA-4A15-B38C-18F7E9679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04 / TRANSACTION SEMANTICS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4FF389E-18CF-4DC6-A9C7-83394DDD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一次业务效果，而非 exactly-once 口号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A2A3C85-9B2F-41B4-81B7-45B9BC2DE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通过写入边界、发件箱和对账将分布式失败收敛为可恢复事实。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C964FC-18DB-4C32-973F-FB5741A7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F31424-9BD4-458F-BDB1-175DA4B02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B7BC7-DED4-4F1C-872C-AB7B8470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7FABC-7B6F-4F6E-975B-7B69C195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14650"/>
            <a:ext cx="10172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D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00DEE8-683E-44AE-B1BB-E28A0518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7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160B75-4745-4C84-BD45-259B47B2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52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A49"/>
                </a:solidFill>
              </a:defRPr>
            </a:pPr>
            <a:r>
              <a:rPr sz="1200" b="1">
                <a:solidFill>
                  <a:srgbClr val="0B7A49"/>
                </a:solidFill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98E155-DE6A-4D80-A796-9E90AA09C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57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D0C"/>
                </a:solidFill>
              </a:defRPr>
            </a:pPr>
            <a:r>
              <a:rPr sz="1650" b="1">
                <a:solidFill>
                  <a:srgbClr val="0B0D0C"/>
                </a:solidFill>
              </a:rPr>
              <a:t>识别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293AC-9ECA-4206-8846-B419C7D67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386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Idempotency key</a:t>
            </a:r>
          </a:p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先查结果，再执行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C5E24-BCF0-4722-A222-2BF32C56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7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B8A3A2-B96E-4D5F-8B76-A516AFB4A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352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A49"/>
                </a:solidFill>
              </a:defRPr>
            </a:pPr>
            <a:r>
              <a:rPr sz="1200" b="1">
                <a:solidFill>
                  <a:srgbClr val="0B7A49"/>
                </a:solidFill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01B73E-CCC2-4F28-AA41-52EE65E2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57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D0C"/>
                </a:solidFill>
              </a:defRPr>
            </a:pPr>
            <a:r>
              <a:rPr sz="1650" b="1">
                <a:solidFill>
                  <a:srgbClr val="0B0D0C"/>
                </a:solidFill>
              </a:rPr>
              <a:t>校验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EF211C-9BEF-4962-B498-6CAB6F6FC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0386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State + risk</a:t>
            </a:r>
          </a:p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非法跳转/超时拒绝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1CD61B-F99F-4B9A-B596-A5A01E3D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0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4F2FE3-CB9E-447F-AC96-2386F0FE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52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D0C"/>
                </a:solidFill>
              </a:defRPr>
            </a:pPr>
            <a:r>
              <a:rPr sz="1200" b="1">
                <a:solidFill>
                  <a:srgbClr val="0B0D0C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15296B-DAD4-46D8-BF43-AD3323B6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D0C"/>
                </a:solidFill>
              </a:defRPr>
            </a:pPr>
            <a:r>
              <a:rPr sz="1650" b="1">
                <a:solidFill>
                  <a:srgbClr val="0B0D0C"/>
                </a:solidFill>
              </a:rPr>
              <a:t>提交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3971EF-F5B7-43E9-B326-C32FBC0D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386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Ledger + outbox</a:t>
            </a:r>
          </a:p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同一数据库事务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61669-169B-4209-BD0A-760A8C2B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7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4A1951-FF81-4BD2-A86E-5C54AF95F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52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A49"/>
                </a:solidFill>
              </a:defRPr>
            </a:pPr>
            <a:r>
              <a:rPr sz="1200" b="1">
                <a:solidFill>
                  <a:srgbClr val="0B7A49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B6EB5F-6F0B-47A2-B1AD-BC446B21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57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D0C"/>
                </a:solidFill>
              </a:defRPr>
            </a:pPr>
            <a:r>
              <a:rPr sz="1650" b="1">
                <a:solidFill>
                  <a:srgbClr val="0B0D0C"/>
                </a:solidFill>
              </a:rPr>
              <a:t>结算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54C1F-1868-44D5-B65E-1838884D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0386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Ordered event</a:t>
            </a:r>
          </a:p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分区内有序消费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90498B-A28E-469F-B336-75A01C07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75272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7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A12CC7-B35F-4F93-9BFA-2755E08D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52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7A49"/>
                </a:solidFill>
              </a:defRPr>
            </a:pPr>
            <a:r>
              <a:rPr sz="1200" b="1">
                <a:solidFill>
                  <a:srgbClr val="0B7A49"/>
                </a:solidFill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3F5BAE-2CB2-43FF-AEF6-40832F144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576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D0C"/>
                </a:solidFill>
              </a:defRPr>
            </a:pPr>
            <a:r>
              <a:rPr sz="1650" b="1">
                <a:solidFill>
                  <a:srgbClr val="0B0D0C"/>
                </a:solidFill>
              </a:rPr>
              <a:t>证明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67A3D6-1D5B-4106-843F-1CD0EFB6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386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Independent recon</a:t>
            </a:r>
          </a:p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外部事实再计算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131FAE2-0A46-4034-9897-D357E70F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10896600" cy="714375"/>
          </a:xfrm>
          <a:prstGeom xmlns:a="http://schemas.openxmlformats.org/drawingml/2006/main" prst="roundRect">
            <a:avLst>
              <a:gd name="adj" fmla="val 21333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5548A1-2F68-4E14-80BC-D45C0498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4830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0D0C"/>
                </a:solidFill>
              </a:defRPr>
            </a:pPr>
            <a:r>
              <a:rPr sz="1350" b="1">
                <a:solidFill>
                  <a:srgbClr val="0B0D0C"/>
                </a:solidFill>
              </a:rPr>
              <a:t>网络超时后，客户端可重试；服务端返回已有结果，而不是重复执行资金效果。</a:t>
            </a:r>
          </a:p>
        </p:txBody>
      </p:sp>
    </p:spTree>
    <p:extLst>
      <p:ext uri="{BB962C8B-B14F-4D97-AF65-F5344CB8AC3E}">
        <p14:creationId xmlns:p14="http://schemas.microsoft.com/office/powerpoint/2010/main" val="1391185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0A2CF91D-5363-43CC-BBEB-2252903B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05 / INCIDENT OPERATIONS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104BB1A-FDAF-46C4-A358-10D78EFF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故障时先收敛风险，再恢复吞吐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6803DD7-9A45-4457-800C-619972C9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操作界面不只告警，还要告诉值班人员现在能做什么、不能做什么。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37D4C-4BC2-4DA8-BF5F-E2C2A73A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273010-FF7F-4ED9-A824-BC267444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91C5C-4824-4CAA-B199-983CC9CCE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60EA0-BD27-4F55-9F08-2E1A34C7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C875"/>
                </a:solidFill>
              </a:defRPr>
            </a:pPr>
            <a:r>
              <a:rPr sz="1200" b="1">
                <a:solidFill>
                  <a:srgbClr val="16C875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67B41-D01E-44E5-9DB8-D8FF86E4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D0C"/>
                </a:solidFill>
              </a:defRPr>
            </a:pPr>
            <a:r>
              <a:rPr sz="1650" b="1">
                <a:solidFill>
                  <a:srgbClr val="0B0D0C"/>
                </a:solidFill>
              </a:rPr>
              <a:t>检测 / DETECT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BBEB2-03E1-4116-934E-15D3C73DC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956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以 trace_id 联系延迟、风控超时、分录异常和对账偏移。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75DD0-14E5-4E6E-AC22-5C7E6390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195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C875"/>
                </a:solidFill>
              </a:defRPr>
            </a:pPr>
            <a:r>
              <a:rPr sz="1200" b="1">
                <a:solidFill>
                  <a:srgbClr val="16C87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6E44E-B8E9-42D6-811C-6A5CD0985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24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D0C"/>
                </a:solidFill>
              </a:defRPr>
            </a:pPr>
            <a:r>
              <a:rPr sz="1650" b="1">
                <a:solidFill>
                  <a:srgbClr val="0B0D0C"/>
                </a:solidFill>
              </a:rPr>
              <a:t>遏制 / CONTAIN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0358D1-24FE-4863-BA61-6D219EB5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关闭高风险路径、保持只读调查，任何资金动作需双人批准。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984CA5-621C-4DD2-93E6-BFE3C0CDE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29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6C875"/>
                </a:solidFill>
              </a:defRPr>
            </a:pPr>
            <a:r>
              <a:rPr sz="1200" b="1">
                <a:solidFill>
                  <a:srgbClr val="16C875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D53CAA-8F46-4DBC-885B-ABF96695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340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B0D0C"/>
                </a:solidFill>
              </a:defRPr>
            </a:pPr>
            <a:r>
              <a:rPr sz="1650" b="1">
                <a:solidFill>
                  <a:srgbClr val="0B0D0C"/>
                </a:solidFill>
              </a:rPr>
              <a:t>对账 / RECONCILE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FC9837-957B-4C08-9157-B0761AC26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15000"/>
            <a:ext cx="3429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以外部事实重算差异，补偿前先保全原始证据。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279134-D8DD-43BA-8A06-4B81B993E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114550"/>
            <a:ext cx="6743700" cy="39624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5824a893c436e"/>
          <a:stretch xmlns:a="http://schemas.openxmlformats.org/drawingml/2006/main"/>
        </p:blipFill>
        <p:spPr>
          <a:xfrm xmlns:a="http://schemas.openxmlformats.org/drawingml/2006/main">
            <a:off x="5337810" y="2324100"/>
            <a:ext cx="5669280" cy="3543300"/>
          </a:xfrm>
          <a:prstGeom xmlns:a="http://schemas.openxmlformats.org/drawingml/2006/main" prst="roundRect">
            <a:avLst>
              <a:gd name="adj" fmla="val 5914"/>
            </a:avLst>
          </a:prstGeom>
        </p:spPr>
      </p:pic>
    </p:spTree>
    <p:extLst>
      <p:ext uri="{BB962C8B-B14F-4D97-AF65-F5344CB8AC3E}">
        <p14:creationId xmlns:p14="http://schemas.microsoft.com/office/powerpoint/2010/main" val="34554315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07AC3D70-C9CB-416D-93A5-6591D294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06 / GOVERNED AI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EC321D-24F0-4DDB-B6D6-FFF171E73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AI 可以加速调查，但不能获得资金权限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1E21CF90-DB52-457D-901A-2DE95BE9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模型输出是建议，不是交易事实；每一个工具调用都需被约束、记录和可拒绝。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9BB93C-801F-4A90-A9AB-F0667F49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ADDA0F-FA93-47C1-9E81-88F18D166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54D88-D904-40BC-8331-6E92D71FE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2EA25C-79BE-4197-9F43-CC499410A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8289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F682A-04A1-466D-B349-6606F924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8289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2CD77A-B9AB-4521-8647-9C5F3099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28925"/>
            <a:ext cx="4000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7F66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5539EB-ED71-4FEE-9CD9-D7FF2560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180975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5F842B-DE1C-474F-9B1B-23638443A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EVIDENCE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11CF29-B57D-49B9-9EC4-2609A871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2895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日志 · 告警 · 订单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675CCA-30C1-4AFF-9EE1-92873A89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14600"/>
            <a:ext cx="180975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B3FEBC-5693-43C4-99E9-8DDDEA5C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86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REDACT + RAG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DE9AF0-0437-4132-ABC7-A1354A3E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02895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脱敏 · 检索 · 引用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145D62-6CA9-46B9-9C8E-6C483994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514600"/>
            <a:ext cx="180975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CBF34-9CA7-45F3-8BCC-08FC13960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860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DB165F-6AEC-4EEC-A304-74375CBB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06A"/>
                </a:solidFill>
              </a:defRPr>
            </a:pPr>
            <a:r>
              <a:rPr sz="1050" b="0">
                <a:solidFill>
                  <a:srgbClr val="65706A"/>
                </a:solidFill>
              </a:rPr>
              <a:t>总结 · 假设 · 建议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EC9EB3-D8AB-4CD2-833C-E1E24C02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514600"/>
            <a:ext cx="3409950" cy="9715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B0D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7DC360-9B50-4E1E-A54D-4C103F4F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86050"/>
            <a:ext cx="3067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POLICY GATE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D80A2-B5E3-4102-8624-5E9F6308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28950"/>
            <a:ext cx="3067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C7F66B"/>
                </a:solidFill>
              </a:defRPr>
            </a:pPr>
            <a:r>
              <a:rPr sz="1050" b="0">
                <a:solidFill>
                  <a:srgbClr val="C7F66B"/>
                </a:solidFill>
              </a:rPr>
              <a:t>只读工具自动返回</a:t>
            </a:r>
          </a:p>
          <a:p xmlns:a="http://schemas.openxmlformats.org/drawingml/2006/main">
            <a:pPr>
              <a:defRPr sz="1050" b="0">
                <a:solidFill>
                  <a:srgbClr val="C7F66B"/>
                </a:solidFill>
              </a:defRPr>
            </a:pPr>
            <a:r>
              <a:rPr sz="1050" b="0">
                <a:solidFill>
                  <a:srgbClr val="C7F66B"/>
                </a:solidFill>
              </a:rPr>
              <a:t>资金/配置动作双人批准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79B90E-D9B7-493C-8E90-3CB24684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91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C87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E14EE8-0B1E-4F17-BB7B-D6E793860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D0C"/>
                </a:solidFill>
              </a:defRPr>
            </a:pPr>
            <a:r>
              <a:rPr sz="1575" b="1">
                <a:solidFill>
                  <a:srgbClr val="0B0D0C"/>
                </a:solidFill>
              </a:rPr>
              <a:t>提示注入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288ABA-40A9-4589-9B3A-B1FB9D6E2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387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检测后拒绝，不将恶意内容传给工具层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EE4D7C-BF24-4FCA-A797-DB629906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C87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D82D55-5205-435D-924B-AF786E005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D0C"/>
                </a:solidFill>
              </a:defRPr>
            </a:pPr>
            <a:r>
              <a:rPr sz="1575" b="1">
                <a:solidFill>
                  <a:srgbClr val="0B0D0C"/>
                </a:solidFill>
              </a:rPr>
              <a:t>敏感信息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98F80F-C5A5-41AA-A64F-AA406AF6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387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在检索和模型调用前脱敏，审计保留策略结果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AB6D82-7BB8-4854-85AD-394209D7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910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99B2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47E79D-41CE-449A-9D55-DCD9F937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19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0D0C"/>
                </a:solidFill>
              </a:defRPr>
            </a:pPr>
            <a:r>
              <a:rPr sz="1575" b="1">
                <a:solidFill>
                  <a:srgbClr val="0B0D0C"/>
                </a:solidFill>
              </a:rPr>
              <a:t>依赖超时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80314E-EE7D-4710-A24B-76BA923D3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3870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模型或风控不可用时，资金动作 fail closed</a:t>
            </a:r>
          </a:p>
        </p:txBody>
      </p:sp>
    </p:spTree>
    <p:extLst>
      <p:ext uri="{BB962C8B-B14F-4D97-AF65-F5344CB8AC3E}">
        <p14:creationId xmlns:p14="http://schemas.microsoft.com/office/powerpoint/2010/main" val="4061895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yebrow">
            <a:extLst xmlns:a="http://schemas.openxmlformats.org/drawingml/2006/main">
              <a:ext uri="{FF2B5EF4-FFF2-40B4-BE49-F238E27FC236}">
                <a16:creationId xmlns:a16="http://schemas.microsoft.com/office/drawing/2014/main" id="{7CD4E1C0-6FAE-4B93-A571-4D48BDE9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07 / ALIBABA CLOUD MAPPING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9F6A1CC-DC45-4242-A460-9806397B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每个云产品都对应一个可验证责任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A508B89-A006-4DD0-B982-4E4A46785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选型从业务不变式出发，而不是从功能目录出发。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014FE-166F-4793-BFC8-2B3F1530E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3F3724-A2C2-4AE0-81D0-BAD91E91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A81871-5DD1-4063-8E95-685292BC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843D2C-2607-4BA1-B193-ADBEAC85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764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706A"/>
                </a:solidFill>
              </a:defRPr>
            </a:pPr>
            <a:r>
              <a:rPr sz="900" b="1">
                <a:solidFill>
                  <a:srgbClr val="65706A"/>
                </a:solidFill>
              </a:rPr>
              <a:t>RESPONSIBILITY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5D9DA-6BB3-4331-9AEC-9F0A9681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076450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706A"/>
                </a:solidFill>
              </a:defRPr>
            </a:pPr>
            <a:r>
              <a:rPr sz="900" b="1">
                <a:solidFill>
                  <a:srgbClr val="65706A"/>
                </a:solidFill>
              </a:rPr>
              <a:t>REFERENCE SERVICES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43EB43-9405-479F-B36D-B8055775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7645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706A"/>
                </a:solidFill>
              </a:defRPr>
            </a:pPr>
            <a:r>
              <a:rPr sz="900" b="1">
                <a:solidFill>
                  <a:srgbClr val="65706A"/>
                </a:solidFill>
              </a:rPr>
              <a:t>WHY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855900-8F18-4662-ACF2-B6D86EFE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76450"/>
            <a:ext cx="1924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706A"/>
                </a:solidFill>
              </a:defRPr>
            </a:pPr>
            <a:r>
              <a:rPr sz="900" b="1">
                <a:solidFill>
                  <a:srgbClr val="65706A"/>
                </a:solidFill>
              </a:rPr>
              <a:t>POC 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97E15E-8552-4318-A08C-F2AB13DFD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11010900" cy="914400"/>
          </a:xfrm>
          <a:prstGeom xmlns:a="http://schemas.openxmlformats.org/drawingml/2006/main" prst="roundRect">
            <a:avLst>
              <a:gd name="adj" fmla="val 14583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D0DDD-0812-4F77-8E05-21FCAF09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57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D0C"/>
                </a:solidFill>
              </a:defRPr>
            </a:pPr>
            <a:r>
              <a:rPr sz="1725" b="1">
                <a:solidFill>
                  <a:srgbClr val="0B0D0C"/>
                </a:solidFill>
              </a:rPr>
              <a:t>保证事实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1A498-D4B1-4F4D-9158-7BC2E1A4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4574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OceanBase / RDS + Tair + RocketMQ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AF084D-B347-4A7C-AA73-B790086FA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5745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事务权威、幂等窗口、有序/事务消息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9AB09-592D-4AD0-8229-86BCE722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7A49"/>
                </a:solidFill>
              </a:defRPr>
            </a:pPr>
            <a:r>
              <a:rPr sz="1275" b="1">
                <a:solidFill>
                  <a:srgbClr val="0B7A49"/>
                </a:solidFill>
              </a:rPr>
              <a:t>100 次重放 → 1 次效果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C7169-9F90-4A84-9255-0FDB10DA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956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850DB7-B181-416F-8ED7-91FE1499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00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D0C"/>
                </a:solidFill>
              </a:defRPr>
            </a:pPr>
            <a:r>
              <a:rPr sz="1725" b="1">
                <a:solidFill>
                  <a:srgbClr val="0B0D0C"/>
                </a:solidFill>
              </a:rPr>
              <a:t>提升速度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6255BC-2888-404D-A1FB-14BD7589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6004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Flink + Hologres + PAI-EAS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C9E9FB-E6A9-4463-955E-6F923EE1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60045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实时特征、对账查询、弹性模型推理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E21B0B-5ED3-4708-9934-0A9943AF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004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差异检出 ≤ 60s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6C4E70-8DD7-4299-9B56-845C109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EC3E1-DC55-48B7-9B46-96A0B3E9A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434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0D0C"/>
                </a:solidFill>
              </a:defRPr>
            </a:pPr>
            <a:r>
              <a:rPr sz="1725" b="1">
                <a:solidFill>
                  <a:srgbClr val="0B0D0C"/>
                </a:solidFill>
              </a:rPr>
              <a:t>证明运行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CA59C3-FD82-44E1-ABBA-B9DC0B02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43450"/>
            <a:ext cx="3000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ACK + RAM/KMS + ARMS/SLS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AF8B1D-1A58-436D-9904-DF0A2E83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743450"/>
            <a:ext cx="32194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运行时隔离、密钥边界、全链路证据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FA4482-C114-4266-BBE9-C352AE22B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7434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RTO/RPO 演练通过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8170FA-44E1-4A62-B0E8-68A0E27F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67400"/>
            <a:ext cx="10896600" cy="40005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0B0D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610C1A-C22C-4A0C-80B1-ED01C5453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81700"/>
            <a:ext cx="10439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实施前再根据地域、数据分类、已有合同和性能测试确定最终 SKU；本方案不绑定单一数据库。</a:t>
            </a:r>
          </a:p>
        </p:txBody>
      </p:sp>
    </p:spTree>
    <p:extLst>
      <p:ext uri="{BB962C8B-B14F-4D97-AF65-F5344CB8AC3E}">
        <p14:creationId xmlns:p14="http://schemas.microsoft.com/office/powerpoint/2010/main" val="14642912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yebrow">
            <a:extLst xmlns:a="http://schemas.openxmlformats.org/drawingml/2006/main">
              <a:ext uri="{FF2B5EF4-FFF2-40B4-BE49-F238E27FC236}">
                <a16:creationId xmlns:a16="http://schemas.microsoft.com/office/drawing/2014/main" id="{46843314-BC13-4AA1-A399-2FB1B13C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08 / POC SCORECARD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42162AC-9A5D-49E3-B038-E457CE1B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POC 的成功由关键门禁定义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1D6B67B-042B-41AE-A4F0-EFA8B365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不做无结论的长期试用；四周后只有 Go、限期补救或 Stop。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9C54B6-2429-4121-9E4A-8028C4C1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8DB3AA-DB83-4C4F-9654-DA28182F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9A453B-8BCB-406D-868A-61FD3CBB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F1DCA8-CF1E-45AA-A4F5-8E17B2E7A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87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ABC4B-4F64-4A19-BCB8-2C737C32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479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D0C"/>
                </a:solidFill>
              </a:defRPr>
            </a:pPr>
            <a:r>
              <a:rPr sz="2700" b="1">
                <a:solidFill>
                  <a:srgbClr val="0B0D0C"/>
                </a:solidFill>
              </a:rPr>
              <a:t>100×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0DF7CA-6AE0-4ECD-A10E-CA72F2D4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384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同一请求重放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506251-E6E4-4259-815C-796F51C3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371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1 次业务效果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D4BA7-38D3-4F7D-95BB-24F466FE8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8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9069A4-7998-4F03-9BF8-69B6A6FF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479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D0C"/>
                </a:solidFill>
              </a:defRPr>
            </a:pPr>
            <a:r>
              <a:rPr sz="2700" b="1">
                <a:solidFill>
                  <a:srgbClr val="0B0D0C"/>
                </a:solidFill>
              </a:rPr>
              <a:t>100%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AECE20-E3E9-4293-AC87-054DDA27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384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双式分录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66FB1-1DE6-444A-A9FD-F4112B18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原子平衡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2B9FC7-CC23-4544-AE3E-788362FE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2098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87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260DD-FA83-4472-B2C1-5A970AE76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47925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D0C"/>
                </a:solidFill>
              </a:defRPr>
            </a:pPr>
            <a:r>
              <a:rPr sz="2700" b="1">
                <a:solidFill>
                  <a:srgbClr val="0B0D0C"/>
                </a:solidFill>
              </a:rPr>
              <a:t>≤ 60s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BCA1E7-7D34-4824-90C0-9233F106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0384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外部不一致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1453C-28C0-4FF5-9D69-5C09BA7F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718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自动检出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D5640E-CBE9-44CE-970D-62EB9321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719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0D0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5F1B3B-9053-4044-80A6-29640B9D2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100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D0C"/>
                </a:solidFill>
              </a:defRPr>
            </a:pPr>
            <a:r>
              <a:rPr sz="2700" b="1">
                <a:solidFill>
                  <a:srgbClr val="0B0D0C"/>
                </a:solidFill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9E699B-4B51-425E-897B-BBFAB88CF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风控超时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256CE9-3AAB-4709-A84A-1AE7088F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33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错误放行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35F0E4-2720-4394-A0B5-64EFA1442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719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0D0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A36EAC-DE9C-4562-B11F-CC555E6F8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100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D0C"/>
                </a:solidFill>
              </a:defRPr>
            </a:pPr>
            <a:r>
              <a:rPr sz="2700" b="1">
                <a:solidFill>
                  <a:srgbClr val="0B0D0C"/>
                </a:solidFill>
              </a:rPr>
              <a:t>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9BDF13-952D-45AB-A2C5-5AC87391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00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AI 工具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EAE7A2-47E8-4DB2-BF9F-105F002C6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33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未授权资金动作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46039E-9757-4035-A7E8-9EAD26DE1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71925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0D0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0A75EA-7D02-4115-B04F-0363AD15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304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B0D0C"/>
                </a:solidFill>
              </a:defRPr>
            </a:pPr>
            <a:r>
              <a:rPr sz="2700" b="1">
                <a:solidFill>
                  <a:srgbClr val="0B0D0C"/>
                </a:solidFill>
              </a:rPr>
              <a:t>≥ 85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8384BD-EDD6-45C1-A247-976071F4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006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B0D0C"/>
                </a:solidFill>
              </a:defRPr>
            </a:pPr>
            <a:r>
              <a:rPr sz="1275" b="1">
                <a:solidFill>
                  <a:srgbClr val="0B0D0C"/>
                </a:solidFill>
              </a:rPr>
              <a:t>综合得分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3B98109-5930-4569-9785-A6723E05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33975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100 分进入 Go</a:t>
            </a:r>
          </a:p>
        </p:txBody>
      </p:sp>
    </p:spTree>
    <p:extLst>
      <p:ext uri="{BB962C8B-B14F-4D97-AF65-F5344CB8AC3E}">
        <p14:creationId xmlns:p14="http://schemas.microsoft.com/office/powerpoint/2010/main" val="193695551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brow">
            <a:extLst xmlns:a="http://schemas.openxmlformats.org/drawingml/2006/main">
              <a:ext uri="{FF2B5EF4-FFF2-40B4-BE49-F238E27FC236}">
                <a16:creationId xmlns:a16="http://schemas.microsoft.com/office/drawing/2014/main" id="{8FD4ED43-DDA7-402F-9A94-2B3EB4EC9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09 / DELIVERY PLAN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1FE3AE6-EA03-42E4-A7CC-3251AA05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四周交付一个可决策的 POC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50A24B0F-F9C2-4A61-A3F8-85145AA11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每周都生成可演示软件和可签字证据，不把验收压到最后一天。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A1F46F-226F-4EF5-A64C-AF719D549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4DF3F-6D88-434A-B3C9-7A4264E3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40104-692E-49F3-8713-ABDB96709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656556-4BAF-4FFC-B64E-FBE58A438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67050"/>
            <a:ext cx="10134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D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F18A9-AF71-4FCD-8BA2-73A287718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886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7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74763-0E75-40E9-9273-D34F54CC4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717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WEEK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A632D0-9F62-409E-B470-E7F38B95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完整性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43F168-8B86-4B71-B4F4-7A913205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0525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状态机、幂等、双式账本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67F873-CDED-4F92-8A80-B8287F54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00600"/>
            <a:ext cx="25336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F36DC-B9F7-4EA1-A8AB-8F96DA065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4347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7A49"/>
                </a:solidFill>
              </a:defRPr>
            </a:pPr>
            <a:r>
              <a:rPr sz="825" b="1">
                <a:solidFill>
                  <a:srgbClr val="0B7A49"/>
                </a:solidFill>
              </a:rPr>
              <a:t>EVIDENCE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5F7A60-F2B7-40B8-9938-4AD33F2EA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0D0C"/>
                </a:solidFill>
              </a:defRPr>
            </a:pPr>
            <a:r>
              <a:rPr sz="1125" b="1">
                <a:solidFill>
                  <a:srgbClr val="0B0D0C"/>
                </a:solidFill>
              </a:rPr>
              <a:t>重放与平衡证据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55FCD-E0A6-4929-A9DD-C72C27F4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886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7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AC5B6-3F7A-4A48-A8FA-E856D362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717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WEEK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8A9DCBA-A047-4599-8F3A-4FBA559F3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4099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事件与风控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FFC3C5-2D69-41D5-8B65-9F397F4A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Outbox、有序消费、fail closed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27EA40-1533-4244-9405-AD4194789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800600"/>
            <a:ext cx="25336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F0FF62-6395-4DAA-9542-C93C18D8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494347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7A49"/>
                </a:solidFill>
              </a:defRPr>
            </a:pPr>
            <a:r>
              <a:rPr sz="825" b="1">
                <a:solidFill>
                  <a:srgbClr val="0B7A49"/>
                </a:solidFill>
              </a:rPr>
              <a:t>EVIDENCE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6853BD-B778-4786-8E57-EA4167F0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52197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0D0C"/>
                </a:solidFill>
              </a:defRPr>
            </a:pPr>
            <a:r>
              <a:rPr sz="1125" b="1">
                <a:solidFill>
                  <a:srgbClr val="0B0D0C"/>
                </a:solidFill>
              </a:rPr>
              <a:t>超时与偏移故障注入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AC1028-2863-4A97-AD13-CD085D1C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886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C875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C63CCE-FA05-488B-B87C-3133FFB15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717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WEEK 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505F47-D5C7-41C8-821B-AAA7C100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099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AI 与运维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D4D67AD-BD2B-4542-9EB2-C6B7494F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0525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脱敏 RAG、工具白名单、证据链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F500D5-E071-4653-A518-293737BA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800600"/>
            <a:ext cx="25336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9C3D8E-ECD3-4F3B-BC5B-15DED31FC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94347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B7A49"/>
                </a:solidFill>
              </a:defRPr>
            </a:pPr>
            <a:r>
              <a:rPr sz="825" b="1">
                <a:solidFill>
                  <a:srgbClr val="0B7A49"/>
                </a:solidFill>
              </a:rPr>
              <a:t>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1057FB-D41C-4DBF-903D-67660D0EE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197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B0D0C"/>
                </a:solidFill>
              </a:defRPr>
            </a:pPr>
            <a:r>
              <a:rPr sz="1125" b="1">
                <a:solidFill>
                  <a:srgbClr val="0B0D0C"/>
                </a:solidFill>
              </a:rPr>
              <a:t>注入攻击与人工批准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0762B-A32D-4F81-9424-5BE104BC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2886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0D0C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E57C1A-DC62-47BB-89B3-54C0F5CE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1717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0D0C"/>
                </a:solidFill>
              </a:defRPr>
            </a:pPr>
            <a:r>
              <a:rPr sz="1050" b="1">
                <a:solidFill>
                  <a:srgbClr val="0B0D0C"/>
                </a:solidFill>
              </a:rPr>
              <a:t>WEEK 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90DBC7-C67C-437D-B821-5BCC3BD85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409950"/>
            <a:ext cx="2533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0D0C"/>
                </a:solidFill>
              </a:defRPr>
            </a:pPr>
            <a:r>
              <a:rPr sz="1800" b="1">
                <a:solidFill>
                  <a:srgbClr val="0B0D0C"/>
                </a:solidFill>
              </a:rPr>
              <a:t>NFR 与决策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DEC3F3-7CFB-4A0E-930D-4AA0956A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905250"/>
            <a:ext cx="2533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负载、混沌、DR、TCO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69D3A42-DCDD-4564-B4B6-F486551F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4800600"/>
            <a:ext cx="25336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0B0D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DD42DF-37B9-4CAE-A986-17F16456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43475"/>
            <a:ext cx="2228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C7F66B"/>
                </a:solidFill>
              </a:defRPr>
            </a:pPr>
            <a:r>
              <a:rPr sz="825" b="1">
                <a:solidFill>
                  <a:srgbClr val="C7F66B"/>
                </a:solidFill>
              </a:rPr>
              <a:t>EVIDENCE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558837F-5CFD-44A1-91C0-1E19EFC21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5219700"/>
            <a:ext cx="2228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Go / remediate / Stop 评审</a:t>
            </a:r>
          </a:p>
        </p:txBody>
      </p:sp>
    </p:spTree>
    <p:extLst>
      <p:ext uri="{BB962C8B-B14F-4D97-AF65-F5344CB8AC3E}">
        <p14:creationId xmlns:p14="http://schemas.microsoft.com/office/powerpoint/2010/main" val="13928153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">
            <a:extLst xmlns:a="http://schemas.openxmlformats.org/drawingml/2006/main">
              <a:ext uri="{FF2B5EF4-FFF2-40B4-BE49-F238E27FC236}">
                <a16:creationId xmlns:a16="http://schemas.microsoft.com/office/drawing/2014/main" id="{B7D07E3C-DCF2-4B3E-B90E-D994146D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10 / ECONOMIC CASE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E2930A-90D3-48B9-B145-BA5F39B56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把安全与可运营性转化为可复算决策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E4318CE-51E6-4920-AEBC-25FBCA36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下列数据仅为可编辑模型的基准样例，不是云厂商报价或客户承诺。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EDED6-52EF-4A08-B24C-208559791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992E18-B7CC-40CD-B9CA-AF1D0315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26E01-DCF4-4C02-B1C6-3D44705A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11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47700" y="2143125"/>
          <a:ext xmlns:a="http://schemas.openxmlformats.org/drawingml/2006/main" cx="7239000" cy="3476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9b931884cb347e9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507EF-EC51-439F-A425-7D6D7C917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26695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B0D0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76AF41-53E7-4FC0-8484-7D255BB11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5745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D0C"/>
                </a:solidFill>
              </a:defRPr>
            </a:pPr>
            <a:r>
              <a:rPr sz="2550" b="1">
                <a:solidFill>
                  <a:srgbClr val="0B0D0C"/>
                </a:solidFill>
              </a:rPr>
              <a:t>8.80m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C199D7-5703-4FF8-A16C-8A8BA94B9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3 年总成本 / CNY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15C11F-7E9C-4C79-9D7E-F3BD018D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29000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87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F7489-3BFA-44F6-A44E-57A1FBB4E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19500"/>
            <a:ext cx="2724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D0C"/>
                </a:solidFill>
              </a:defRPr>
            </a:pPr>
            <a:r>
              <a:rPr sz="2550" b="1">
                <a:solidFill>
                  <a:srgbClr val="0B0D0C"/>
                </a:solidFill>
              </a:rPr>
              <a:t>10.04m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E66CD7-B00A-4FAB-9CDE-9E81F9EBB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5290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3 年效益 / CNY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3922C-9765-4737-AAD7-BCA4283F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910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87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02A1C4-3BAB-42B5-91E2-E57D482A2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81550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D0C"/>
                </a:solidFill>
              </a:defRPr>
            </a:pPr>
            <a:r>
              <a:rPr sz="2550" b="1">
                <a:solidFill>
                  <a:srgbClr val="0B0D0C"/>
                </a:solidFill>
              </a:rPr>
              <a:t>14%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F700B4-ED5A-4DC1-8F76-DC4ABA6B3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149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ROI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846B95-05D9-4C85-BAE9-B324FC7EB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5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6C87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C5F42-7DF2-438B-9967-B64AB293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781550"/>
            <a:ext cx="1257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0B0D0C"/>
                </a:solidFill>
              </a:defRPr>
            </a:pPr>
            <a:r>
              <a:rPr sz="2550" b="1">
                <a:solidFill>
                  <a:srgbClr val="0B0D0C"/>
                </a:solidFill>
              </a:rPr>
              <a:t>24m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A00BE1-6235-4D6D-AA99-9D2487F7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314950"/>
            <a:ext cx="1257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06A"/>
                </a:solidFill>
              </a:defRPr>
            </a:pPr>
            <a:r>
              <a:rPr sz="1200" b="0">
                <a:solidFill>
                  <a:srgbClr val="65706A"/>
                </a:solidFill>
              </a:rPr>
              <a:t>Payback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DAAA9-5022-408A-9754-6509EDE8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848350"/>
            <a:ext cx="2952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CHART: CNY THOUSANDS · ILLUSTRATIVE · NOT A QUOTE</a:t>
            </a:r>
          </a:p>
        </p:txBody>
      </p:sp>
    </p:spTree>
    <p:extLst>
      <p:ext uri="{BB962C8B-B14F-4D97-AF65-F5344CB8AC3E}">
        <p14:creationId xmlns:p14="http://schemas.microsoft.com/office/powerpoint/2010/main" val="175075009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eyebrow">
            <a:extLst xmlns:a="http://schemas.openxmlformats.org/drawingml/2006/main">
              <a:ext uri="{FF2B5EF4-FFF2-40B4-BE49-F238E27FC236}">
                <a16:creationId xmlns:a16="http://schemas.microsoft.com/office/drawing/2014/main" id="{8CA8A022-F554-40F5-85F9-266A37762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11 / SHARED RESPONSIBILITY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80A6B7-F78E-4069-9163-670620ED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B0D0C"/>
                </a:solidFill>
              </a:defRPr>
            </a:pPr>
            <a:r>
              <a:rPr sz="2850" b="1">
                <a:solidFill>
                  <a:srgbClr val="0B0D0C"/>
                </a:solidFill>
              </a:rPr>
              <a:t>上云不会转移客户的交易责任</a:t>
            </a:r>
          </a:p>
        </p:txBody>
      </p:sp>
      <p:sp>
        <p:nvSpPr>
          <p:cNvPr id="3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692FFAE7-877C-4591-ADB5-8B713852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38275"/>
            <a:ext cx="1057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06A"/>
                </a:solidFill>
              </a:defRPr>
            </a:pPr>
            <a:r>
              <a:rPr sz="1350" b="0">
                <a:solidFill>
                  <a:srgbClr val="65706A"/>
                </a:solidFill>
              </a:rPr>
              <a:t>云服务提供基础能力；客户仍需拥有身份、数据、业务规则、恢复和合规决策。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1A742-0661-45D3-A800-45CE5C27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29375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50A9A-C1B7-436A-B7D2-808D72453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960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FINCLOUD SENTINEL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45094-B497-468A-920D-A43DE94A1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5706A"/>
                </a:solidFill>
              </a:defRPr>
            </a:pPr>
            <a:r>
              <a:rPr sz="825" b="1">
                <a:solidFill>
                  <a:srgbClr val="65706A"/>
                </a:solidFill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BF287-78A3-4B52-AD60-1CCEF830F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3505200" cy="32004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41407B-4FC3-4B8C-A922-8050BA92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0D0C"/>
                </a:solidFill>
              </a:defRPr>
            </a:pPr>
            <a:r>
              <a:rPr sz="1950" b="1">
                <a:solidFill>
                  <a:srgbClr val="0B0D0C"/>
                </a:solidFill>
              </a:rPr>
              <a:t>云服务商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06A528-7762-44AE-A81B-0C3903DDB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7A4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F3C038-B79F-41C5-A2B1-46B70C9FF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0F5E98-9EB0-4FBE-942F-A45F31496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2766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0D0C"/>
                </a:solidFill>
              </a:defRPr>
            </a:pPr>
            <a:r>
              <a:rPr sz="1200" b="0">
                <a:solidFill>
                  <a:srgbClr val="0B0D0C"/>
                </a:solidFill>
              </a:rPr>
              <a:t>物理设施与底层基础设施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0BDC38-4548-478C-AFDD-291D3F05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81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96914-9BCB-4382-80F3-926D0FF6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433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0D0C"/>
                </a:solidFill>
              </a:defRPr>
            </a:pPr>
            <a:r>
              <a:rPr sz="1200" b="0">
                <a:solidFill>
                  <a:srgbClr val="0B0D0C"/>
                </a:solidFill>
              </a:rPr>
              <a:t>托管服务可用性与平台安全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F13C12-7869-4D17-A316-6005213B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48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B79AD2-5984-4F98-89F5-8CD8FCEAB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101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0D0C"/>
                </a:solidFill>
              </a:defRPr>
            </a:pPr>
            <a:r>
              <a:rPr sz="1200" b="0">
                <a:solidFill>
                  <a:srgbClr val="0B0D0C"/>
                </a:solidFill>
              </a:rPr>
              <a:t>产品级审计、加密与备份能力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EAB93-D776-4E7E-AD8F-E69F20B3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90750"/>
            <a:ext cx="3505200" cy="32004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EFFF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50A194-0A91-4AC7-9AFC-0EAAB034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38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0D0C"/>
                </a:solidFill>
              </a:defRPr>
            </a:pPr>
            <a:r>
              <a:rPr sz="1950" b="1">
                <a:solidFill>
                  <a:srgbClr val="0B0D0C"/>
                </a:solidFill>
              </a:rPr>
              <a:t>共同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0CDAEA-7FF9-4B1C-AB7B-EBB92BBD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718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B7A4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C4BBDF-368F-4DCD-A697-96DBC65C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14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01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F8068-991E-48B3-AE8C-99A27205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2766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0D0C"/>
                </a:solidFill>
              </a:defRPr>
            </a:pPr>
            <a:r>
              <a:rPr sz="1200" b="0">
                <a:solidFill>
                  <a:srgbClr val="0B0D0C"/>
                </a:solidFill>
              </a:rPr>
              <a:t>架构与容量设计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C61D9-3249-4356-861F-6B0B0176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981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680123-5DD6-45B0-AF25-0A018F28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9433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0D0C"/>
                </a:solidFill>
              </a:defRPr>
            </a:pPr>
            <a:r>
              <a:rPr sz="1200" b="0">
                <a:solidFill>
                  <a:srgbClr val="0B0D0C"/>
                </a:solidFill>
              </a:rPr>
              <a:t>灾备演练与性能验收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BDBACE-9229-4025-82AA-968E1A44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648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B7A49"/>
                </a:solidFill>
              </a:defRPr>
            </a:pPr>
            <a:r>
              <a:rPr sz="1050" b="1">
                <a:solidFill>
                  <a:srgbClr val="0B7A49"/>
                </a:solidFill>
              </a:rPr>
              <a:t>03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ECA9E-9989-433E-B552-F1906472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6101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0B0D0C"/>
                </a:solidFill>
              </a:defRPr>
            </a:pPr>
            <a:r>
              <a:rPr sz="1200" b="0">
                <a:solidFill>
                  <a:srgbClr val="0B0D0C"/>
                </a:solidFill>
              </a:rPr>
              <a:t>证据保留、漏洞与事故协同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7D59F6-0FFC-4F4F-A02B-6F518A3E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190750"/>
            <a:ext cx="3505200" cy="3200400"/>
          </a:xfrm>
          <a:prstGeom xmlns:a="http://schemas.openxmlformats.org/drawingml/2006/main" prst="roundRect">
            <a:avLst>
              <a:gd name="adj" fmla="val 5952"/>
            </a:avLst>
          </a:prstGeom>
          <a:solidFill xmlns:a="http://schemas.openxmlformats.org/drawingml/2006/main">
            <a:srgbClr val="0B0D0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4B9D13-68B4-4ED4-A707-608224B5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38400"/>
            <a:ext cx="304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客户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5AC8F9-6590-4F7C-8AE0-C6D8DE7C1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718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6C87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8248F7-5F1E-4222-B16D-DE6A59BE9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147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F66B"/>
                </a:solidFill>
              </a:defRPr>
            </a:pPr>
            <a:r>
              <a:rPr sz="1050" b="1">
                <a:solidFill>
                  <a:srgbClr val="C7F66B"/>
                </a:solidFill>
              </a:rPr>
              <a:t>01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D6FBE6-A944-4245-AB0E-D4E584F10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766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账户与最小权限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BECFE-364A-4FBF-8D5B-0EC9752BB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F66B"/>
                </a:solidFill>
              </a:defRPr>
            </a:pPr>
            <a:r>
              <a:rPr sz="1050" b="1">
                <a:solidFill>
                  <a:srgbClr val="C7F66B"/>
                </a:solidFill>
              </a:rPr>
              <a:t>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99CFD2-C65C-4376-AFE1-A91429E6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94335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业务状态、风控与 AI 授权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DC9AC13-D7B4-41E5-908A-D41DE68CC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648200"/>
            <a:ext cx="32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C7F66B"/>
                </a:solidFill>
              </a:defRPr>
            </a:pPr>
            <a:r>
              <a:rPr sz="1050" b="1">
                <a:solidFill>
                  <a:srgbClr val="C7F66B"/>
                </a:solidFill>
              </a:rPr>
              <a:t>03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14BC24-01EB-4B5E-9B9C-000947561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10100"/>
            <a:ext cx="2590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数据分类、恢复时决策与合规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6E66F7-A91E-44F5-A457-3F39C530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95950"/>
            <a:ext cx="108966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8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1CE9EBB-CBFD-48BF-BA86-5C430640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388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B0D0C"/>
                </a:solidFill>
              </a:defRPr>
            </a:pPr>
            <a:r>
              <a:rPr sz="1200" b="1">
                <a:solidFill>
                  <a:srgbClr val="0B0D0C"/>
                </a:solidFill>
              </a:rPr>
              <a:t>上线前门禁：威胁模型 · 密钥轮换 · 混沌测试 · DR 演练 · 回滚证据 · 责任人签字</a:t>
            </a:r>
          </a:p>
        </p:txBody>
      </p:sp>
    </p:spTree>
    <p:extLst>
      <p:ext uri="{BB962C8B-B14F-4D97-AF65-F5344CB8AC3E}">
        <p14:creationId xmlns:p14="http://schemas.microsoft.com/office/powerpoint/2010/main" val="1927998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0D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BB36A-0A62-4410-9426-D20B82F2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3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C7F66B"/>
                </a:solidFill>
              </a:defRPr>
            </a:pPr>
            <a:r>
              <a:rPr sz="975" b="1">
                <a:solidFill>
                  <a:srgbClr val="C7F66B"/>
                </a:solidFill>
              </a:rPr>
              <a:t>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813AB2-7514-4626-BF67-1D3E040B7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"/>
            <a:ext cx="6477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建议批准一个</a:t>
            </a:r>
          </a:p>
          <a:p xmlns:a="http://schemas.openxmlformats.org/drawingml/2006/main">
            <a:pPr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有退出门槛的四周 POC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B0975-E411-4A1C-A1E5-CDA20D001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76550"/>
            <a:ext cx="6572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C8D0CC"/>
                </a:solidFill>
              </a:defRPr>
            </a:pPr>
            <a:r>
              <a:rPr sz="1500" b="0">
                <a:solidFill>
                  <a:srgbClr val="C8D0CC"/>
                </a:solidFill>
              </a:rPr>
              <a:t>不需要现在购买长期阿里云服务器。先以合成数据和本地/Docker 证明核心不变式，通过后再用按量资源进行短期云上验证。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9A900-7122-4686-82FD-DAC6F217B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04900"/>
            <a:ext cx="3638550" cy="4095750"/>
          </a:xfrm>
          <a:prstGeom xmlns:a="http://schemas.openxmlformats.org/drawingml/2006/main" prst="roundRect">
            <a:avLst>
              <a:gd name="adj" fmla="val 62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95A35A-36F8-4CCD-B10D-C10FFD9F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28750"/>
            <a:ext cx="3028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B7A49"/>
                </a:solidFill>
              </a:defRPr>
            </a:pPr>
            <a:r>
              <a:rPr sz="975" b="1">
                <a:solidFill>
                  <a:srgbClr val="0B7A49"/>
                </a:solidFill>
              </a:rPr>
              <a:t>START CONDITIONS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341C93-2872-4F50-BDDA-FC6654CE1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95275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B0D0C"/>
                </a:solidFill>
              </a:defRPr>
            </a:pPr>
            <a:r>
              <a:rPr sz="1425" b="1">
                <a:solidFill>
                  <a:srgbClr val="0B0D0C"/>
                </a:solidFill>
              </a:rPr>
              <a:t>确认业务与风控责任人</a:t>
            </a:r>
          </a:p>
          <a:p xmlns:a="http://schemas.openxmlformats.org/drawingml/2006/main">
            <a:pPr>
              <a:defRPr sz="1425" b="1">
                <a:solidFill>
                  <a:srgbClr val="0B0D0C"/>
                </a:solidFill>
              </a:defRPr>
            </a:pPr>
            <a:r>
              <a:rPr sz="1425" b="1">
                <a:solidFill>
                  <a:srgbClr val="0B0D0C"/>
                </a:solidFill>
              </a:rPr>
              <a:t>确认地域与数据分类</a:t>
            </a:r>
          </a:p>
          <a:p xmlns:a="http://schemas.openxmlformats.org/drawingml/2006/main">
            <a:pPr>
              <a:defRPr sz="1425" b="1">
                <a:solidFill>
                  <a:srgbClr val="0B0D0C"/>
                </a:solidFill>
              </a:defRPr>
            </a:pPr>
            <a:r>
              <a:rPr sz="1425" b="1">
                <a:solidFill>
                  <a:srgbClr val="0B0D0C"/>
                </a:solidFill>
              </a:rPr>
              <a:t>确认样例负载与故障注入</a:t>
            </a:r>
          </a:p>
          <a:p xmlns:a="http://schemas.openxmlformats.org/drawingml/2006/main">
            <a:pPr>
              <a:defRPr sz="1425" b="1">
                <a:solidFill>
                  <a:srgbClr val="0B0D0C"/>
                </a:solidFill>
              </a:defRPr>
            </a:pPr>
            <a:r>
              <a:rPr sz="1425" b="1">
                <a:solidFill>
                  <a:srgbClr val="0B0D0C"/>
                </a:solidFill>
              </a:rPr>
              <a:t>确认 RPO/RTO 与最终决策日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84848-BB96-45A4-9220-5DD907F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11480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F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0A6D5-F2F4-4A29-AF74-0AE1EFD56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324350"/>
            <a:ext cx="3028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5706A"/>
                </a:solidFill>
              </a:defRPr>
            </a:pPr>
            <a:r>
              <a:rPr sz="900" b="1">
                <a:solidFill>
                  <a:srgbClr val="65706A"/>
                </a:solidFill>
              </a:rPr>
              <a:t>WEEK 4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56700-368F-4F72-A5D3-E5E0AB88F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4629150"/>
            <a:ext cx="30289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B0D0C"/>
                </a:solidFill>
              </a:defRPr>
            </a:pPr>
            <a:r>
              <a:rPr sz="1500" b="1">
                <a:solidFill>
                  <a:srgbClr val="0B0D0C"/>
                </a:solidFill>
              </a:rPr>
              <a:t>GO  /  REMEDIATE  /  STOP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90AD6-8227-4E00-A813-0860BA1C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41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F48E6B-824E-4117-8961-89E251B1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341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7F66B"/>
                </a:solidFill>
              </a:defRPr>
            </a:pPr>
            <a:r>
              <a:rPr sz="1125" b="1">
                <a:solidFill>
                  <a:srgbClr val="C7F66B"/>
                </a:solidFill>
              </a:rPr>
              <a:t>github.com/thunderxu7-sketch/fincloud-sentinel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F041F-9D19-404C-84D9-0DD28C510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6134100"/>
            <a:ext cx="4648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thunderxu7-sketch.github.io/fincloud-sentinel/</a:t>
            </a:r>
          </a:p>
        </p:txBody>
      </p:sp>
    </p:spTree>
    <p:extLst>
      <p:ext uri="{BB962C8B-B14F-4D97-AF65-F5344CB8AC3E}">
        <p14:creationId xmlns:p14="http://schemas.microsoft.com/office/powerpoint/2010/main" val="1955509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2026-08-27T03:31:36.0030000Z</dcterms:created>
  <dcterms:modified xsi:type="dcterms:W3CDTF">2026-08-27T03:31:36.0030000Z</dcterms:modified>
</coreProperties>
</file>